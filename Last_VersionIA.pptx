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Slab" pitchFamily="2" charset="0"/>
      <p:regular r:id="rId21"/>
      <p:bold r:id="rId2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45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23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98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Système de Recherche et de Résumé de Documents Alimenté par l'IA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PSTB – 29/07/2025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Présenté par Ghizlane Lasri et Walid Bedewy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93790" y="329053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290530"/>
            <a:ext cx="121920" cy="2810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5478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Perte de temps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40382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Rechercher des informations clés dans de longs documents est chronophage et inefficace.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29053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290530"/>
            <a:ext cx="121920" cy="28109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54782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Manque de moteurs intelligents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439257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outils actuels ne permettent pas une recherche sémantique avancée, limitant la pertinence des résultats.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290530"/>
            <a:ext cx="4196358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290530"/>
            <a:ext cx="121920" cy="28109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547824"/>
            <a:ext cx="3122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Automatisation par l'IA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403824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Peut-on automatiser cette tâche avec une IA fiable et optimisée pour la performance et la compatibilité CPU ?</a:t>
            </a:r>
            <a:endParaRPr lang="en-US" sz="175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2B1D71E-6912-E84C-43BC-AF7D676022A3}"/>
              </a:ext>
            </a:extLst>
          </p:cNvPr>
          <p:cNvSpPr/>
          <p:nvPr/>
        </p:nvSpPr>
        <p:spPr>
          <a:xfrm>
            <a:off x="763310" y="12613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Problématique : </a:t>
            </a:r>
            <a:r>
              <a:rPr lang="fr-FR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Faciliter l’accès ciblé à l’information dans des documents longs et variés</a:t>
            </a:r>
            <a:endParaRPr lang="en-US" sz="44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133" y="2336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Globale du Système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32556" y="170983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Notre système se décompose en plusieurs modules interconnectés, assurant une chaîne de traitement fluide de l'ingestion à la restitution des résultats.</a:t>
            </a: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16E1447-74B3-0C7D-AF04-79489B504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176006" y="3164764"/>
            <a:ext cx="1068572" cy="1282149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449D149-5256-E044-D469-C660FFB599A8}"/>
              </a:ext>
            </a:extLst>
          </p:cNvPr>
          <p:cNvSpPr/>
          <p:nvPr/>
        </p:nvSpPr>
        <p:spPr>
          <a:xfrm>
            <a:off x="944504" y="4584468"/>
            <a:ext cx="1407409" cy="56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/>
              <a:t>Téléchargement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50" dirty="0"/>
              <a:t> de documents 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F8442B7-A3FD-6838-6562-FE1D1055A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934330" y="3193141"/>
            <a:ext cx="1028802" cy="1234431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F42E6F2-9F5E-8FBA-0707-CC3083920628}"/>
              </a:ext>
            </a:extLst>
          </p:cNvPr>
          <p:cNvSpPr/>
          <p:nvPr/>
        </p:nvSpPr>
        <p:spPr>
          <a:xfrm>
            <a:off x="2706937" y="4570658"/>
            <a:ext cx="1282149" cy="44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Extraction &amp;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Segmentation</a:t>
            </a:r>
            <a:endParaRPr lang="en-US" sz="14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8EBB94F-2BE1-FCE2-2611-583C4F5FD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801948" y="3217854"/>
            <a:ext cx="1028803" cy="1234432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C7A95E90-393C-B79F-A000-777388DC8549}"/>
              </a:ext>
            </a:extLst>
          </p:cNvPr>
          <p:cNvSpPr/>
          <p:nvPr/>
        </p:nvSpPr>
        <p:spPr>
          <a:xfrm>
            <a:off x="4699133" y="4675680"/>
            <a:ext cx="1081393" cy="23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Embedding</a:t>
            </a:r>
            <a:endParaRPr lang="en-US" sz="14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626369F5-E061-8AE6-4B46-64B2352B66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775774" y="3223544"/>
            <a:ext cx="971884" cy="1166136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6B310E5C-D100-E9F9-258C-3C7358B878B7}"/>
              </a:ext>
            </a:extLst>
          </p:cNvPr>
          <p:cNvSpPr/>
          <p:nvPr/>
        </p:nvSpPr>
        <p:spPr>
          <a:xfrm>
            <a:off x="6544746" y="4559534"/>
            <a:ext cx="966550" cy="44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FAISS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Indexation</a:t>
            </a:r>
            <a:endParaRPr lang="en-US" sz="145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330A05E8-0FC5-4947-A51C-1D71BF44A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79325" y="5539972"/>
            <a:ext cx="971885" cy="1166138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74FBA36A-61D2-0759-3470-17882096CF61}"/>
              </a:ext>
            </a:extLst>
          </p:cNvPr>
          <p:cNvSpPr/>
          <p:nvPr/>
        </p:nvSpPr>
        <p:spPr>
          <a:xfrm>
            <a:off x="1682198" y="6955791"/>
            <a:ext cx="966550" cy="26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Recherche</a:t>
            </a:r>
            <a:endParaRPr lang="en-US" sz="1450" dirty="0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D67BFA4C-8DDB-8F36-5419-5CFC71BE6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3799880" y="5566925"/>
            <a:ext cx="947550" cy="1136939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34FECAFD-5C89-27C3-A390-EB90F31286FA}"/>
              </a:ext>
            </a:extLst>
          </p:cNvPr>
          <p:cNvSpPr/>
          <p:nvPr/>
        </p:nvSpPr>
        <p:spPr>
          <a:xfrm>
            <a:off x="3860012" y="6997206"/>
            <a:ext cx="827286" cy="17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Résumé</a:t>
            </a:r>
            <a:endParaRPr lang="en-US" sz="1450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1BB97891-3CDE-E3F2-1A6C-8FBE42E13D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5640594" y="5558761"/>
            <a:ext cx="943741" cy="1132368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79C9E61A-D56B-0F43-E663-66914175B342}"/>
              </a:ext>
            </a:extLst>
          </p:cNvPr>
          <p:cNvSpPr/>
          <p:nvPr/>
        </p:nvSpPr>
        <p:spPr>
          <a:xfrm>
            <a:off x="5608825" y="6997206"/>
            <a:ext cx="827286" cy="26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Évaluation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754767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Étapes Techniques (1/2)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943820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Ingestion &amp; Extraction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4059912" cy="1005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Gère les formats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PDF, DOCX, TXT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utilisant </a:t>
            </a:r>
            <a:r>
              <a:rPr lang="en-US" sz="16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PyPDF2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</a:t>
            </a:r>
            <a:r>
              <a:rPr lang="en-US" sz="16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python-docx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Robuste face aux documents complexes.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3491865"/>
            <a:ext cx="4059912" cy="4059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92090" y="1726644"/>
            <a:ext cx="3476982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Segmentation &amp; Nettoyage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92090" y="2254925"/>
            <a:ext cx="405991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 documents sont divisés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segments de 350 tokens. Les éléments inutiles sont supprimés pour optimiser la pertinence.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90" y="3806547"/>
            <a:ext cx="4059912" cy="4059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62542" y="1726644"/>
            <a:ext cx="3412450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Génération d'Embeddings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862542" y="2254925"/>
            <a:ext cx="4059912" cy="133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Utilise le modèle </a:t>
            </a:r>
            <a:r>
              <a:rPr lang="en-US" sz="16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créer des embeddings normalisés, essentiels pour la recherche vectorielle efficace.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5F1267-BBFC-3FE3-AF12-5DC0CEC88282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2542" y="3821787"/>
            <a:ext cx="4059912" cy="4059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348" y="612918"/>
            <a:ext cx="5549741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Étapes Techniques (2/2)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7348" y="1644729"/>
            <a:ext cx="245483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Indexation FAISS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7348" y="2147888"/>
            <a:ext cx="4098608" cy="94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Implémentation d'un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optimisé pour CPU. Stocke les métadonnées (fichier, segment, hash) pour un accès rapide.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48" y="3318629"/>
            <a:ext cx="4098608" cy="4098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72683" y="1644729"/>
            <a:ext cx="289702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Interface de Recherche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272683" y="2147888"/>
            <a:ext cx="4098608" cy="12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requête utilisateur est transformée en embedding pour trouver les 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résultats pertinents. L'interface affiche les segments trouvés et un résumé initial.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683" y="3625096"/>
            <a:ext cx="4098608" cy="4098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58018" y="1644729"/>
            <a:ext cx="274058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6. Résumé Automatique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858018" y="2147888"/>
            <a:ext cx="4098608" cy="94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</a:t>
            </a:r>
            <a:r>
              <a:rPr lang="en-US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Roboto" pitchFamily="34" charset="-122"/>
                <a:cs typeface="Consolas" pitchFamily="34" charset="-120"/>
              </a:rPr>
              <a:t>T5-Small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génère des résumés concis d'environ </a:t>
            </a: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130 tokens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fournissant une synthèse rapide du contenu.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018" y="3318629"/>
            <a:ext cx="4098608" cy="4098608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D45C7F9-885C-3537-068C-6E0F72275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43" y="3287435"/>
            <a:ext cx="4184094" cy="41840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57F801-7E7C-715C-20E7-83DA168DFDC6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175C21-9ABA-594B-63FB-7A7D57EA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47" y="1102256"/>
            <a:ext cx="7772400" cy="712734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B8FFFF-1A32-7E7A-9C99-8E13570D6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47" y="4102100"/>
            <a:ext cx="6553200" cy="4127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F34F311-14CB-5FDE-E6C8-300E88F30097}"/>
              </a:ext>
            </a:extLst>
          </p:cNvPr>
          <p:cNvSpPr/>
          <p:nvPr/>
        </p:nvSpPr>
        <p:spPr>
          <a:xfrm>
            <a:off x="5446709" y="299925"/>
            <a:ext cx="4912482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Diagramme</a:t>
            </a: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UML</a:t>
            </a:r>
            <a:endParaRPr lang="en-US" sz="3850" dirty="0"/>
          </a:p>
        </p:txBody>
      </p:sp>
    </p:spTree>
    <p:extLst>
      <p:ext uri="{BB962C8B-B14F-4D97-AF65-F5344CB8AC3E}">
        <p14:creationId xmlns:p14="http://schemas.microsoft.com/office/powerpoint/2010/main" val="75274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5869" y="1390096"/>
            <a:ext cx="99661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Évaluation de la Qualité des Résumés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47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Pour garantir la fiabilité de nos résumés, nous utilisons des métriques spécifiques 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2455"/>
            <a:ext cx="4196358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314277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761" y="331291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51084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BLEU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Mesure la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précision linguistique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comparant les n-grammes 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(mots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groupes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mots)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 résumé généré avec ceux d'un résumé de référence.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452455"/>
            <a:ext cx="4196358" cy="12192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3142774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78933" y="331291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5474256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44444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ROUGE-1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74256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Évalue la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couverture des idées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comptant le chevauchement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d'unigrammes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taux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mots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 les résumés générés et de référence.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9640133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452455"/>
            <a:ext cx="4196358" cy="12192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3142774"/>
            <a:ext cx="680442" cy="6804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02105" y="331291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9897427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44444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ROUGE-L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9897427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la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cohérence grammaticale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se basant sur la plus longue sous-séquence commune (LCS) des mots.</a:t>
            </a:r>
            <a:endParaRPr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793790" y="65043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Chaque évaluation repose sur un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résumé de référence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saisi manuellement par l'utilisateur.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8B482D-D6E1-782F-B2C5-D544FBD05DDF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4220" y="296779"/>
            <a:ext cx="6394013" cy="43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Comparaison des Modèles : T5 vs BART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59724" y="1050726"/>
            <a:ext cx="172283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T5-Small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88" y="1517170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Tokenisation différente, affectant la segmentation.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243316" y="1787551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 plus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littéral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88" y="2070949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 plus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léger et rapide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optimisé CPU.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22" y="3359849"/>
            <a:ext cx="5461277" cy="4606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52222" y="991975"/>
            <a:ext cx="172283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BART-Large-CNN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42675" y="1479401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 plus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abstrait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adapté au journalistique.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42675" y="1775817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 plus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lourd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nécessitant plus de ressources.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42675" y="2082181"/>
            <a:ext cx="666476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ROUGE plus pertinent pour son évaluation que BLEU.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2322" y="9394865"/>
            <a:ext cx="13665756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choix de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T5-Small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été privilégié pour sa compatibilité CPU et sa vitesse, malgré des différences dans le style de résumé.</a:t>
            </a:r>
            <a:endParaRPr lang="en-US" sz="105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F430D9C-2C3C-5FCD-25F3-E660EA6880CC}"/>
              </a:ext>
            </a:extLst>
          </p:cNvPr>
          <p:cNvGrpSpPr/>
          <p:nvPr/>
        </p:nvGrpSpPr>
        <p:grpSpPr>
          <a:xfrm>
            <a:off x="1007054" y="2438744"/>
            <a:ext cx="874644" cy="765314"/>
            <a:chOff x="703006" y="2410719"/>
            <a:chExt cx="874644" cy="7653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34C6BA-9435-CF66-AFFE-9AA647DC0E47}"/>
                </a:ext>
              </a:extLst>
            </p:cNvPr>
            <p:cNvSpPr/>
            <p:nvPr/>
          </p:nvSpPr>
          <p:spPr>
            <a:xfrm>
              <a:off x="703006" y="2410719"/>
              <a:ext cx="874644" cy="76531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DB69E56-7CE8-1DD0-EB0C-93E6CB06920C}"/>
                </a:ext>
              </a:extLst>
            </p:cNvPr>
            <p:cNvSpPr txBox="1"/>
            <p:nvPr/>
          </p:nvSpPr>
          <p:spPr>
            <a:xfrm>
              <a:off x="794752" y="2626667"/>
              <a:ext cx="690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</a:rPr>
                <a:t>Rouge-L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0.099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8A6EB386-7C98-A7E0-8D2A-40129970998C}"/>
              </a:ext>
            </a:extLst>
          </p:cNvPr>
          <p:cNvGrpSpPr/>
          <p:nvPr/>
        </p:nvGrpSpPr>
        <p:grpSpPr>
          <a:xfrm>
            <a:off x="2596898" y="2430344"/>
            <a:ext cx="874644" cy="765314"/>
            <a:chOff x="727460" y="2462476"/>
            <a:chExt cx="874644" cy="76531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EE61560-202B-FCBE-3B5D-C6056840B5CB}"/>
                </a:ext>
              </a:extLst>
            </p:cNvPr>
            <p:cNvSpPr/>
            <p:nvPr/>
          </p:nvSpPr>
          <p:spPr>
            <a:xfrm>
              <a:off x="727460" y="2462476"/>
              <a:ext cx="874644" cy="76531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CFC0F7A-5B75-E1EF-C1AF-2F013E9B7CED}"/>
                </a:ext>
              </a:extLst>
            </p:cNvPr>
            <p:cNvSpPr txBox="1"/>
            <p:nvPr/>
          </p:nvSpPr>
          <p:spPr>
            <a:xfrm>
              <a:off x="794752" y="2626667"/>
              <a:ext cx="7400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</a:rPr>
                <a:t>Rouge-1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0.21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54A451E8-F911-B310-90C3-3DDD56B32747}"/>
              </a:ext>
            </a:extLst>
          </p:cNvPr>
          <p:cNvGrpSpPr/>
          <p:nvPr/>
        </p:nvGrpSpPr>
        <p:grpSpPr>
          <a:xfrm>
            <a:off x="4182558" y="2438745"/>
            <a:ext cx="874644" cy="765314"/>
            <a:chOff x="715617" y="2474843"/>
            <a:chExt cx="874644" cy="76531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B63AC3-F8C9-E291-22E9-D0E8F781E59D}"/>
                </a:ext>
              </a:extLst>
            </p:cNvPr>
            <p:cNvSpPr/>
            <p:nvPr/>
          </p:nvSpPr>
          <p:spPr>
            <a:xfrm>
              <a:off x="715617" y="2474843"/>
              <a:ext cx="874644" cy="76531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E3F0D355-34F6-FC92-461C-E56089DCF28F}"/>
                </a:ext>
              </a:extLst>
            </p:cNvPr>
            <p:cNvSpPr txBox="1"/>
            <p:nvPr/>
          </p:nvSpPr>
          <p:spPr>
            <a:xfrm>
              <a:off x="794752" y="2626667"/>
              <a:ext cx="690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Bleu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0.00</a:t>
              </a:r>
            </a:p>
          </p:txBody>
        </p: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B8FF2413-8429-8C26-0AA1-B6914C87A23F}"/>
              </a:ext>
            </a:extLst>
          </p:cNvPr>
          <p:cNvSpPr txBox="1"/>
          <p:nvPr/>
        </p:nvSpPr>
        <p:spPr>
          <a:xfrm>
            <a:off x="7899250" y="2561834"/>
            <a:ext cx="690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Rouge-L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0.099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F9BC400-BBE1-8EE1-5B56-19CBCA0029D7}"/>
              </a:ext>
            </a:extLst>
          </p:cNvPr>
          <p:cNvGrpSpPr/>
          <p:nvPr/>
        </p:nvGrpSpPr>
        <p:grpSpPr>
          <a:xfrm>
            <a:off x="8524222" y="2408812"/>
            <a:ext cx="874644" cy="765314"/>
            <a:chOff x="703006" y="2410719"/>
            <a:chExt cx="874644" cy="76531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362CBE-BBB3-F4F1-8273-7976855D24F4}"/>
                </a:ext>
              </a:extLst>
            </p:cNvPr>
            <p:cNvSpPr/>
            <p:nvPr/>
          </p:nvSpPr>
          <p:spPr>
            <a:xfrm>
              <a:off x="703006" y="2410719"/>
              <a:ext cx="874644" cy="76531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5ADEDA2-0FC4-0712-42B2-D91FD4FD5D41}"/>
                </a:ext>
              </a:extLst>
            </p:cNvPr>
            <p:cNvSpPr txBox="1"/>
            <p:nvPr/>
          </p:nvSpPr>
          <p:spPr>
            <a:xfrm>
              <a:off x="794752" y="2626667"/>
              <a:ext cx="690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</a:rPr>
                <a:t>Rouge-L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0.078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E909E891-3D55-B75E-7C97-2D74539F15B7}"/>
              </a:ext>
            </a:extLst>
          </p:cNvPr>
          <p:cNvGrpSpPr/>
          <p:nvPr/>
        </p:nvGrpSpPr>
        <p:grpSpPr>
          <a:xfrm>
            <a:off x="10176317" y="2408812"/>
            <a:ext cx="874644" cy="765314"/>
            <a:chOff x="715617" y="2474843"/>
            <a:chExt cx="874644" cy="76531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D3F9BE-2222-541A-9028-8C741F1C3F14}"/>
                </a:ext>
              </a:extLst>
            </p:cNvPr>
            <p:cNvSpPr/>
            <p:nvPr/>
          </p:nvSpPr>
          <p:spPr>
            <a:xfrm>
              <a:off x="715617" y="2474843"/>
              <a:ext cx="874644" cy="76531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AF27B238-876E-DD70-88A6-6E326368765F}"/>
                </a:ext>
              </a:extLst>
            </p:cNvPr>
            <p:cNvSpPr txBox="1"/>
            <p:nvPr/>
          </p:nvSpPr>
          <p:spPr>
            <a:xfrm>
              <a:off x="794752" y="2626667"/>
              <a:ext cx="7400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</a:rPr>
                <a:t>Rouge-1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0.104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1313226-DAD4-A9E2-4D31-E1F0DB4A7F0A}"/>
              </a:ext>
            </a:extLst>
          </p:cNvPr>
          <p:cNvGrpSpPr/>
          <p:nvPr/>
        </p:nvGrpSpPr>
        <p:grpSpPr>
          <a:xfrm>
            <a:off x="11843186" y="2354659"/>
            <a:ext cx="874644" cy="765314"/>
            <a:chOff x="715617" y="2474843"/>
            <a:chExt cx="874644" cy="76531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4063DDF-A6DE-F880-5B68-12BA1637CE93}"/>
                </a:ext>
              </a:extLst>
            </p:cNvPr>
            <p:cNvSpPr/>
            <p:nvPr/>
          </p:nvSpPr>
          <p:spPr>
            <a:xfrm>
              <a:off x="715617" y="2474843"/>
              <a:ext cx="874644" cy="76531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5AAE8F4-B46C-1E0A-A600-7F7B8F4DD192}"/>
                </a:ext>
              </a:extLst>
            </p:cNvPr>
            <p:cNvSpPr txBox="1"/>
            <p:nvPr/>
          </p:nvSpPr>
          <p:spPr>
            <a:xfrm>
              <a:off x="794752" y="2626667"/>
              <a:ext cx="690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Bleu</a:t>
              </a:r>
            </a:p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0.00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E1854F0-C4C2-3460-5309-208E78A4867E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687" y="3359848"/>
            <a:ext cx="5353672" cy="4606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7770" y="538044"/>
            <a:ext cx="9202817" cy="59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Défis Techniques Rencontrés &amp; Solutions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8" y="1506498"/>
            <a:ext cx="478274" cy="4782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608" y="2223849"/>
            <a:ext cx="23916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Choix du Modèle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9608" y="2637592"/>
            <a:ext cx="652605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Passage de BART à T5 pour optimiser la compatibilité CPU sans sacrifier la pertinence.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739" y="1506498"/>
            <a:ext cx="478274" cy="4782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4739" y="2223849"/>
            <a:ext cx="23916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Jeux de Données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434739" y="2637592"/>
            <a:ext cx="65260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Sélection d'un corpus propre et léger, évitant les surcharges inutiles.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8" y="3728085"/>
            <a:ext cx="478274" cy="4782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9608" y="4445437"/>
            <a:ext cx="23916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 des Scores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9608" y="4859179"/>
            <a:ext cx="652605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 à des résumés courts avec l'utilisation du cache pour la performance.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739" y="3728085"/>
            <a:ext cx="478274" cy="4782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4739" y="4445437"/>
            <a:ext cx="239160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Installation Locale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434739" y="4859179"/>
            <a:ext cx="652605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Résolution des conflits de versions Python, Torch et NumPy pour un environnement stable.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08" y="5949672"/>
            <a:ext cx="478274" cy="4782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9608" y="6667024"/>
            <a:ext cx="272307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Environnement Hybride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669608" y="7080766"/>
            <a:ext cx="6526054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configuré pour utiliser un environnement cohérent et isolé.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739" y="5949672"/>
            <a:ext cx="478274" cy="47827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4739" y="6667024"/>
            <a:ext cx="255555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Optimisation du Cache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434739" y="7080766"/>
            <a:ext cx="6526054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Utilisation de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@st.cache_resource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les modèles, améliorant l'ergonomie et la vitesse.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AE54B9-F888-0813-6E70-49B8DC896CA8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13180" y="492204"/>
            <a:ext cx="3493406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1195840" y="2386702"/>
            <a:ext cx="5634680" cy="378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Merci </a:t>
            </a:r>
            <a:r>
              <a:rPr lang="fr-FR" sz="3600" dirty="0"/>
              <a:t>🙂</a:t>
            </a:r>
            <a:endParaRPr lang="en-US" sz="335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4150"/>
              </a:lnSpc>
              <a:buNone/>
            </a:pPr>
            <a:endParaRPr lang="en-US" sz="335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4150"/>
              </a:lnSpc>
              <a:buNone/>
            </a:pPr>
            <a:r>
              <a:rPr lang="en-US" sz="33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Avez-vous</a:t>
            </a: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des questions ? 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261" y="1808917"/>
            <a:ext cx="4944785" cy="494478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408A90-C455-207F-7F62-F87A40ABEA91}"/>
              </a:ext>
            </a:extLst>
          </p:cNvPr>
          <p:cNvSpPr/>
          <p:nvPr/>
        </p:nvSpPr>
        <p:spPr>
          <a:xfrm>
            <a:off x="12844608" y="7735330"/>
            <a:ext cx="1785792" cy="48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616</Words>
  <Application>Microsoft Macintosh PowerPoint</Application>
  <PresentationFormat>Personnalisé</PresentationFormat>
  <Paragraphs>99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Consolas</vt:lpstr>
      <vt:lpstr>Arial</vt:lpstr>
      <vt:lpstr>Roboto</vt:lpstr>
      <vt:lpstr>Roboto Slab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ghizlane lasri</cp:lastModifiedBy>
  <cp:revision>5</cp:revision>
  <dcterms:created xsi:type="dcterms:W3CDTF">2025-07-29T10:34:31Z</dcterms:created>
  <dcterms:modified xsi:type="dcterms:W3CDTF">2025-07-29T13:00:18Z</dcterms:modified>
</cp:coreProperties>
</file>