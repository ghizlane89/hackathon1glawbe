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6" r:id="rId7"/>
    <p:sldId id="262" r:id="rId8"/>
    <p:sldId id="263" r:id="rId9"/>
    <p:sldId id="267" r:id="rId10"/>
    <p:sldId id="264" r:id="rId11"/>
    <p:sldId id="265" r:id="rId12"/>
  </p:sldIdLst>
  <p:sldSz cx="14630400" cy="8229600"/>
  <p:notesSz cx="8229600" cy="14630400"/>
  <p:embeddedFontLs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Slab" pitchFamily="2" charset="0"/>
      <p:regular r:id="rId22"/>
      <p:bold r:id="rId23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76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36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98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F1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CFE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391013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Système de Recherche et de Résumé de Documents Alimenté par l'IA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5751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Hackathon PSTB – 29/07/2025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547556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Présenté par Ghizlane Lasri et Walid Bedewy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FE223C-02C1-619E-AA44-E46AB4E6726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93790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290530"/>
            <a:ext cx="121920" cy="28109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54782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Perte de temps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038243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Rechercher des informations clés dans de longs documents est chronophage et inefficace.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290530"/>
            <a:ext cx="121920" cy="28109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547824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Manque de moteurs intelligents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39257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outils actuels ne permettent pas une recherche sémantique avancée, limitant la pertinence des résultats.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290530"/>
            <a:ext cx="4196358" cy="2810947"/>
          </a:xfrm>
          <a:prstGeom prst="roundRect">
            <a:avLst>
              <a:gd name="adj" fmla="val 5205"/>
            </a:avLst>
          </a:prstGeom>
          <a:solidFill>
            <a:srgbClr val="FBFCFE"/>
          </a:solidFill>
          <a:ln w="30480">
            <a:solidFill>
              <a:srgbClr val="CFD2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290530"/>
            <a:ext cx="121920" cy="28109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547824"/>
            <a:ext cx="312253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Automatisation par l'IA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038243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Peut-on automatiser cette tâche avec une IA fiable et optimisée pour la performance et la compatibilité CPU ?</a:t>
            </a:r>
            <a:endParaRPr lang="en-US" sz="1750" dirty="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2B1D71E-6912-E84C-43BC-AF7D676022A3}"/>
              </a:ext>
            </a:extLst>
          </p:cNvPr>
          <p:cNvSpPr/>
          <p:nvPr/>
        </p:nvSpPr>
        <p:spPr>
          <a:xfrm>
            <a:off x="763310" y="126134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La Problématique : </a:t>
            </a:r>
            <a:r>
              <a:rPr lang="fr-FR" sz="44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Faciliter l’accès ciblé à l’information dans des documents longs et variés</a:t>
            </a:r>
            <a:endParaRPr lang="en-US" sz="440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D49A86-1DA5-C5D4-3EA6-D58B99C7676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133" y="233658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Architecture Globale du Système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832556" y="170983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Notre système se décompose en plusieurs modules interconnectés, assurant une chaîne de traitement fluide de l'ingestion à la restitution des résultats.</a:t>
            </a:r>
            <a:endParaRPr lang="en-US" sz="175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616E1447-74B3-0C7D-AF04-79489B504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176006" y="3164764"/>
            <a:ext cx="1068572" cy="1282149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449D149-5256-E044-D469-C660FFB599A8}"/>
              </a:ext>
            </a:extLst>
          </p:cNvPr>
          <p:cNvSpPr/>
          <p:nvPr/>
        </p:nvSpPr>
        <p:spPr>
          <a:xfrm>
            <a:off x="944504" y="4584468"/>
            <a:ext cx="1407409" cy="562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Téléchargement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/>
              <a:t> de documents </a:t>
            </a:r>
          </a:p>
        </p:txBody>
      </p:sp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5F8442B7-A3FD-6838-6562-FE1D1055A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2934330" y="3193141"/>
            <a:ext cx="1028802" cy="1234431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6F42E6F2-9F5E-8FBA-0707-CC3083920628}"/>
              </a:ext>
            </a:extLst>
          </p:cNvPr>
          <p:cNvSpPr/>
          <p:nvPr/>
        </p:nvSpPr>
        <p:spPr>
          <a:xfrm>
            <a:off x="2706937" y="4570658"/>
            <a:ext cx="1282149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Extraction &amp; 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Segmentation</a:t>
            </a:r>
            <a:endParaRPr lang="en-US" sz="145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F8EBB94F-2BE1-FCE2-2611-583C4F5FD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4801948" y="3217854"/>
            <a:ext cx="1028803" cy="1234432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C7A95E90-393C-B79F-A000-777388DC8549}"/>
              </a:ext>
            </a:extLst>
          </p:cNvPr>
          <p:cNvSpPr/>
          <p:nvPr/>
        </p:nvSpPr>
        <p:spPr>
          <a:xfrm>
            <a:off x="4699133" y="4675680"/>
            <a:ext cx="1081393" cy="23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Embedding</a:t>
            </a:r>
            <a:endParaRPr lang="en-US" sz="1450" dirty="0"/>
          </a:p>
        </p:txBody>
      </p:sp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626369F5-E061-8AE6-4B46-64B2352B66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6775774" y="3223544"/>
            <a:ext cx="971884" cy="1166136"/>
          </a:xfrm>
          <a:prstGeom prst="rect">
            <a:avLst/>
          </a:prstGeom>
        </p:spPr>
      </p:pic>
      <p:sp>
        <p:nvSpPr>
          <p:cNvPr id="12" name="Text 4">
            <a:extLst>
              <a:ext uri="{FF2B5EF4-FFF2-40B4-BE49-F238E27FC236}">
                <a16:creationId xmlns:a16="http://schemas.microsoft.com/office/drawing/2014/main" id="{6B310E5C-D100-E9F9-258C-3C7358B878B7}"/>
              </a:ext>
            </a:extLst>
          </p:cNvPr>
          <p:cNvSpPr/>
          <p:nvPr/>
        </p:nvSpPr>
        <p:spPr>
          <a:xfrm>
            <a:off x="6544746" y="4559534"/>
            <a:ext cx="966550" cy="442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FAISS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Indexation</a:t>
            </a:r>
            <a:endParaRPr lang="en-US" sz="1450" dirty="0"/>
          </a:p>
        </p:txBody>
      </p:sp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330A05E8-0FC5-4947-A51C-1D71BF44A1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1779325" y="5539972"/>
            <a:ext cx="971885" cy="1166138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74FBA36A-61D2-0759-3470-17882096CF61}"/>
              </a:ext>
            </a:extLst>
          </p:cNvPr>
          <p:cNvSpPr/>
          <p:nvPr/>
        </p:nvSpPr>
        <p:spPr>
          <a:xfrm>
            <a:off x="1682198" y="6955791"/>
            <a:ext cx="966550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Recherche</a:t>
            </a:r>
            <a:endParaRPr lang="en-US" sz="1450" dirty="0"/>
          </a:p>
        </p:txBody>
      </p:sp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D67BFA4C-8DDB-8F36-5419-5CFC71BE66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3799880" y="5566925"/>
            <a:ext cx="947550" cy="1136939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34FECAFD-5C89-27C3-A390-EB90F31286FA}"/>
              </a:ext>
            </a:extLst>
          </p:cNvPr>
          <p:cNvSpPr/>
          <p:nvPr/>
        </p:nvSpPr>
        <p:spPr>
          <a:xfrm>
            <a:off x="3860012" y="6997206"/>
            <a:ext cx="827286" cy="174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Résumé</a:t>
            </a:r>
            <a:endParaRPr lang="en-US" sz="1450" dirty="0"/>
          </a:p>
        </p:txBody>
      </p:sp>
      <p:pic>
        <p:nvPicPr>
          <p:cNvPr id="17" name="Image 6" descr="preencoded.png">
            <a:extLst>
              <a:ext uri="{FF2B5EF4-FFF2-40B4-BE49-F238E27FC236}">
                <a16:creationId xmlns:a16="http://schemas.microsoft.com/office/drawing/2014/main" id="{1BB97891-3CDE-E3F2-1A6C-8FBE42E13D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5640594" y="5558761"/>
            <a:ext cx="943741" cy="1132368"/>
          </a:xfrm>
          <a:prstGeom prst="rect">
            <a:avLst/>
          </a:prstGeom>
        </p:spPr>
      </p:pic>
      <p:sp>
        <p:nvSpPr>
          <p:cNvPr id="18" name="Text 7">
            <a:extLst>
              <a:ext uri="{FF2B5EF4-FFF2-40B4-BE49-F238E27FC236}">
                <a16:creationId xmlns:a16="http://schemas.microsoft.com/office/drawing/2014/main" id="{79C9E61A-D56B-0F43-E663-66914175B342}"/>
              </a:ext>
            </a:extLst>
          </p:cNvPr>
          <p:cNvSpPr/>
          <p:nvPr/>
        </p:nvSpPr>
        <p:spPr>
          <a:xfrm>
            <a:off x="5608825" y="6997206"/>
            <a:ext cx="827286" cy="26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1638" y="566976"/>
            <a:ext cx="5754767" cy="644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(1/2)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721638" y="1726644"/>
            <a:ext cx="294382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1. Ingestion &amp; Extraction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1638" y="2254925"/>
            <a:ext cx="4059912" cy="1005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Gère les formats </a:t>
            </a:r>
            <a:r>
              <a:rPr lang="en-US" sz="16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PDF, DOCX, TXT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utilisant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PyPDF2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et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python-docx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Robuste face aux documents complexes.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38" y="3491865"/>
            <a:ext cx="4059912" cy="4059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92090" y="1726644"/>
            <a:ext cx="3476982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2. Segmentation &amp; Nettoyage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292090" y="2254925"/>
            <a:ext cx="4059912" cy="131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documents sont divisés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segments de 350 tokens. Les éléments inutiles sont supprimés pour optimiser la pertinence.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3806547"/>
            <a:ext cx="4059912" cy="4059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62542" y="1726644"/>
            <a:ext cx="3412450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3. Génération d'Embeddings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62542" y="2254925"/>
            <a:ext cx="4059912" cy="1334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Utilise le modèle </a:t>
            </a:r>
            <a:r>
              <a:rPr lang="en-US" sz="16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all-MiniLM-L6-v2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créer des embeddings normalisés, essentiels pour la recherche vectorielle efficace.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5F1267-BBFC-3FE3-AF12-5DC0CEC88282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2542" y="3821787"/>
            <a:ext cx="4059912" cy="40599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7348" y="612918"/>
            <a:ext cx="5549741" cy="613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Étapes Techniques (2/2)</a:t>
            </a:r>
            <a:endParaRPr lang="en-US" sz="3850" dirty="0"/>
          </a:p>
        </p:txBody>
      </p:sp>
      <p:sp>
        <p:nvSpPr>
          <p:cNvPr id="3" name="Text 1"/>
          <p:cNvSpPr/>
          <p:nvPr/>
        </p:nvSpPr>
        <p:spPr>
          <a:xfrm>
            <a:off x="687348" y="1644729"/>
            <a:ext cx="245483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4. Indexation FAISS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8734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Implémentation d'un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IndexFlatIP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optimisé pour CPU. Stocke les métadonnées (fichier, segment, hash) pour un accès rapide.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48" y="3318629"/>
            <a:ext cx="4098608" cy="4098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72683" y="1644729"/>
            <a:ext cx="289702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5. Interface de Recherche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272683" y="2147888"/>
            <a:ext cx="4098608" cy="12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 requête utilisateur est transformée en embedding pour trouver les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top-k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résultats pertinents. L'interface affiche les segments trouvés et un résumé initial.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2683" y="3625096"/>
            <a:ext cx="4098608" cy="4098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58018" y="1644729"/>
            <a:ext cx="2740581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6. Résumé Automatique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9858018" y="2147888"/>
            <a:ext cx="4098608" cy="949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 </a:t>
            </a:r>
            <a:r>
              <a:rPr lang="en-US" sz="15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Roboto" pitchFamily="34" charset="-122"/>
                <a:cs typeface="Consolas" pitchFamily="34" charset="-120"/>
              </a:rPr>
              <a:t>T5-Small 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génère des résumés concis d'environ </a:t>
            </a:r>
            <a:r>
              <a:rPr lang="en-US" sz="150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130 tokens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fournissant une synthèse rapide du contenu.</a:t>
            </a:r>
            <a:endParaRPr lang="en-US" sz="15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8018" y="3318629"/>
            <a:ext cx="4098608" cy="4098608"/>
          </a:xfrm>
          <a:prstGeom prst="rect">
            <a:avLst/>
          </a:prstGeom>
        </p:spPr>
      </p:pic>
      <p:pic>
        <p:nvPicPr>
          <p:cNvPr id="12" name="Image 0" descr="preencoded.png">
            <a:extLst>
              <a:ext uri="{FF2B5EF4-FFF2-40B4-BE49-F238E27FC236}">
                <a16:creationId xmlns:a16="http://schemas.microsoft.com/office/drawing/2014/main" id="{BD45C7F9-885C-3537-068C-6E0F722752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43" y="3287435"/>
            <a:ext cx="4184094" cy="418409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E57F801-7E7C-715C-20E7-83DA168DFDC6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lowchart: Document 10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810" y="0"/>
            <a:ext cx="3897630" cy="4080511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3F34F311-14CB-5FDE-E6C8-300E88F30097}"/>
              </a:ext>
            </a:extLst>
          </p:cNvPr>
          <p:cNvSpPr/>
          <p:nvPr/>
        </p:nvSpPr>
        <p:spPr>
          <a:xfrm>
            <a:off x="1005840" y="205394"/>
            <a:ext cx="3408218" cy="2845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Diagramme UML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EFD4BBB-34CB-4968-00EE-F6935DC00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760" y="1456099"/>
            <a:ext cx="9128590" cy="531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74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5869" y="1390096"/>
            <a:ext cx="99661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Évaluation de la Qualité des Résumés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2472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Pour garantir la fiabilité de nos résumés, nous utilisons des métriques spécifiques 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452455"/>
            <a:ext cx="4196358" cy="1219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142774"/>
            <a:ext cx="680442" cy="680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55761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051084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E98F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BLEU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051084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Mesure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précision linguistique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comparant les n-grammes 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(mots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6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groupes</a:t>
            </a:r>
            <a:r>
              <a:rPr lang="en-US" sz="16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du résumé généré avec ceux d'un résumé de référence.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5216962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452455"/>
            <a:ext cx="4196358" cy="12192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142774"/>
            <a:ext cx="680442" cy="68044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78933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8"/>
          <p:cNvSpPr/>
          <p:nvPr/>
        </p:nvSpPr>
        <p:spPr>
          <a:xfrm>
            <a:off x="5474256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ROUGE-1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5474256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Évalue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couverture des idées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comptant le chevauchement </a:t>
            </a:r>
            <a:r>
              <a:rPr lang="en-US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d'unigrammes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taux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mots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40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</a:t>
            </a: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 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entre les résumés générés et de référence.</a:t>
            </a:r>
            <a:endParaRPr lang="en-US" sz="1750" dirty="0"/>
          </a:p>
        </p:txBody>
      </p:sp>
      <p:sp>
        <p:nvSpPr>
          <p:cNvPr id="16" name="Shape 10"/>
          <p:cNvSpPr/>
          <p:nvPr/>
        </p:nvSpPr>
        <p:spPr>
          <a:xfrm>
            <a:off x="9640133" y="348293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452455"/>
            <a:ext cx="4196358" cy="12192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142774"/>
            <a:ext cx="680442" cy="68044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602105" y="3312914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2100" dirty="0"/>
          </a:p>
        </p:txBody>
      </p:sp>
      <p:sp>
        <p:nvSpPr>
          <p:cNvPr id="20" name="Text 12"/>
          <p:cNvSpPr/>
          <p:nvPr/>
        </p:nvSpPr>
        <p:spPr>
          <a:xfrm>
            <a:off x="9897427" y="40499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44444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ROUGE-L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9897427" y="454032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Analyse la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cohérence grammaticale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en se basant sur la plus longue sous-séquence commune (LCS) des mots.</a:t>
            </a:r>
            <a:endParaRPr lang="en-US" sz="1750" dirty="0"/>
          </a:p>
        </p:txBody>
      </p:sp>
      <p:sp>
        <p:nvSpPr>
          <p:cNvPr id="22" name="Text 14"/>
          <p:cNvSpPr/>
          <p:nvPr/>
        </p:nvSpPr>
        <p:spPr>
          <a:xfrm>
            <a:off x="793790" y="650438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Chaque évaluation repose sur un </a:t>
            </a:r>
            <a:r>
              <a:rPr lang="en-US" sz="17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résumé de référence</a:t>
            </a:r>
            <a:r>
              <a:rPr lang="en-US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saisi manuellement par l'utilisateur.</a:t>
            </a:r>
            <a:endParaRPr lang="en-US" sz="175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8B482D-D6E1-782F-B2C5-D544FBD05DDF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34220" y="296779"/>
            <a:ext cx="6394013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Comparaison des Modèles : T5 vs BART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459724" y="1050726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T5-Small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88" y="1517170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Tokenisation différente, affectant la segmentation.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243316" y="178755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littéral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34488" y="2070949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léger et rapide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optimisé CPU.</a:t>
            </a:r>
            <a:endParaRPr lang="en-US" sz="10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22" y="3359849"/>
            <a:ext cx="5461277" cy="460651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52222" y="991975"/>
            <a:ext cx="1722834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BART-Large-CNN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42675" y="147940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Style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abstrait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adapté au journalistique.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142675" y="1775817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Modèle plus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lourd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nécessitant plus de ressources.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142675" y="2082181"/>
            <a:ext cx="6664762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700"/>
              </a:lnSpc>
              <a:buSzPct val="100000"/>
              <a:buChar char="•"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ROUGE plus pertinent pour son évaluation que BLEU.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82322" y="9394865"/>
            <a:ext cx="13665756" cy="220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choix de </a:t>
            </a:r>
            <a:r>
              <a:rPr lang="en-US" sz="10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T5-Small</a:t>
            </a:r>
            <a:r>
              <a:rPr lang="en-US" sz="10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été privilégié pour sa compatibilité CPU et sa vitesse, malgré des différences dans le style de résumé.</a:t>
            </a:r>
            <a:endParaRPr lang="en-US" sz="1050" dirty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F430D9C-2C3C-5FCD-25F3-E660EA6880CC}"/>
              </a:ext>
            </a:extLst>
          </p:cNvPr>
          <p:cNvGrpSpPr/>
          <p:nvPr/>
        </p:nvGrpSpPr>
        <p:grpSpPr>
          <a:xfrm>
            <a:off x="1007054" y="2438744"/>
            <a:ext cx="874644" cy="765314"/>
            <a:chOff x="703006" y="2410719"/>
            <a:chExt cx="874644" cy="7653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334C6BA-9435-CF66-AFFE-9AA647DC0E47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3DB69E56-7CE8-1DD0-EB0C-93E6CB06920C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0.485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A6EB386-7C98-A7E0-8D2A-40129970998C}"/>
              </a:ext>
            </a:extLst>
          </p:cNvPr>
          <p:cNvGrpSpPr/>
          <p:nvPr/>
        </p:nvGrpSpPr>
        <p:grpSpPr>
          <a:xfrm>
            <a:off x="2596898" y="2430344"/>
            <a:ext cx="874644" cy="765314"/>
            <a:chOff x="727460" y="2462476"/>
            <a:chExt cx="874644" cy="76531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EE61560-202B-FCBE-3B5D-C6056840B5CB}"/>
                </a:ext>
              </a:extLst>
            </p:cNvPr>
            <p:cNvSpPr/>
            <p:nvPr/>
          </p:nvSpPr>
          <p:spPr>
            <a:xfrm>
              <a:off x="727460" y="2462476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4CFC0F7A-5B75-E1EF-C1AF-2F013E9B7CED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0.525</a:t>
              </a:r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54A451E8-F911-B310-90C3-3DDD56B32747}"/>
              </a:ext>
            </a:extLst>
          </p:cNvPr>
          <p:cNvGrpSpPr/>
          <p:nvPr/>
        </p:nvGrpSpPr>
        <p:grpSpPr>
          <a:xfrm>
            <a:off x="4182558" y="2438745"/>
            <a:ext cx="874644" cy="765314"/>
            <a:chOff x="715617" y="2474843"/>
            <a:chExt cx="874644" cy="76531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B63AC3-F8C9-E291-22E9-D0E8F781E59D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E3F0D355-34F6-FC92-461C-E56089DCF28F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0.302</a:t>
              </a:r>
            </a:p>
          </p:txBody>
        </p:sp>
      </p:grpSp>
      <p:sp>
        <p:nvSpPr>
          <p:cNvPr id="30" name="ZoneTexte 29">
            <a:extLst>
              <a:ext uri="{FF2B5EF4-FFF2-40B4-BE49-F238E27FC236}">
                <a16:creationId xmlns:a16="http://schemas.microsoft.com/office/drawing/2014/main" id="{B8FF2413-8429-8C26-0AA1-B6914C87A23F}"/>
              </a:ext>
            </a:extLst>
          </p:cNvPr>
          <p:cNvSpPr txBox="1"/>
          <p:nvPr/>
        </p:nvSpPr>
        <p:spPr>
          <a:xfrm>
            <a:off x="7899250" y="2561834"/>
            <a:ext cx="6904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Rouge-L</a:t>
            </a:r>
          </a:p>
          <a:p>
            <a:pPr algn="ctr"/>
            <a:r>
              <a:rPr lang="fr-FR" sz="1200" dirty="0">
                <a:solidFill>
                  <a:schemeClr val="bg1"/>
                </a:solidFill>
              </a:rPr>
              <a:t>0.099</a:t>
            </a:r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F9BC400-BBE1-8EE1-5B56-19CBCA0029D7}"/>
              </a:ext>
            </a:extLst>
          </p:cNvPr>
          <p:cNvGrpSpPr/>
          <p:nvPr/>
        </p:nvGrpSpPr>
        <p:grpSpPr>
          <a:xfrm>
            <a:off x="8524222" y="2408812"/>
            <a:ext cx="874644" cy="765314"/>
            <a:chOff x="703006" y="2410719"/>
            <a:chExt cx="874644" cy="76531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362CBE-BBB3-F4F1-8273-7976855D24F4}"/>
                </a:ext>
              </a:extLst>
            </p:cNvPr>
            <p:cNvSpPr/>
            <p:nvPr/>
          </p:nvSpPr>
          <p:spPr>
            <a:xfrm>
              <a:off x="703006" y="2410719"/>
              <a:ext cx="874644" cy="76531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05ADEDA2-0FC4-0712-42B2-D91FD4FD5D41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Rouge-L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0.438</a:t>
              </a:r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909E891-3D55-B75E-7C97-2D74539F15B7}"/>
              </a:ext>
            </a:extLst>
          </p:cNvPr>
          <p:cNvGrpSpPr/>
          <p:nvPr/>
        </p:nvGrpSpPr>
        <p:grpSpPr>
          <a:xfrm>
            <a:off x="10176317" y="2408812"/>
            <a:ext cx="874644" cy="765314"/>
            <a:chOff x="715617" y="2474843"/>
            <a:chExt cx="874644" cy="765314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1D3F9BE-2222-541A-9028-8C741F1C3F14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AF27B238-876E-DD70-88A6-6E326368765F}"/>
                </a:ext>
              </a:extLst>
            </p:cNvPr>
            <p:cNvSpPr txBox="1"/>
            <p:nvPr/>
          </p:nvSpPr>
          <p:spPr>
            <a:xfrm>
              <a:off x="794752" y="2626667"/>
              <a:ext cx="7400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>
                  <a:solidFill>
                    <a:schemeClr val="bg1"/>
                  </a:solidFill>
                </a:rPr>
                <a:t>Rouge-1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0.485</a:t>
              </a:r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1313226-DAD4-A9E2-4D31-E1F0DB4A7F0A}"/>
              </a:ext>
            </a:extLst>
          </p:cNvPr>
          <p:cNvGrpSpPr/>
          <p:nvPr/>
        </p:nvGrpSpPr>
        <p:grpSpPr>
          <a:xfrm>
            <a:off x="11843186" y="2354659"/>
            <a:ext cx="874644" cy="765314"/>
            <a:chOff x="715617" y="2474843"/>
            <a:chExt cx="874644" cy="765314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4063DDF-A6DE-F880-5B68-12BA1637CE93}"/>
                </a:ext>
              </a:extLst>
            </p:cNvPr>
            <p:cNvSpPr/>
            <p:nvPr/>
          </p:nvSpPr>
          <p:spPr>
            <a:xfrm>
              <a:off x="715617" y="2474843"/>
              <a:ext cx="874644" cy="765314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5AAE8F4-B46C-1E0A-A600-7F7B8F4DD192}"/>
                </a:ext>
              </a:extLst>
            </p:cNvPr>
            <p:cNvSpPr txBox="1"/>
            <p:nvPr/>
          </p:nvSpPr>
          <p:spPr>
            <a:xfrm>
              <a:off x="794752" y="2626667"/>
              <a:ext cx="6904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Bleu</a:t>
              </a:r>
            </a:p>
            <a:p>
              <a:pPr algn="ctr"/>
              <a:r>
                <a:rPr lang="fr-FR" sz="1200" dirty="0">
                  <a:solidFill>
                    <a:schemeClr val="bg1"/>
                  </a:solidFill>
                </a:rPr>
                <a:t>0.282</a:t>
              </a:r>
            </a:p>
          </p:txBody>
        </p: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EE1854F0-C4C2-3460-5309-208E78A4867E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687" y="3359848"/>
            <a:ext cx="5353672" cy="46065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4">
            <a:extLst>
              <a:ext uri="{FF2B5EF4-FFF2-40B4-BE49-F238E27FC236}">
                <a16:creationId xmlns:a16="http://schemas.microsoft.com/office/drawing/2014/main" id="{AE203F66-001A-A6B3-CDF0-A97A39FE20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162800" y="3962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E098C1C-33D8-4EBA-4E76-53D711242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85" y="2031591"/>
            <a:ext cx="13199229" cy="5202927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B553F163-28B4-A2F8-98E1-495683BD2069}"/>
              </a:ext>
            </a:extLst>
          </p:cNvPr>
          <p:cNvSpPr/>
          <p:nvPr/>
        </p:nvSpPr>
        <p:spPr>
          <a:xfrm>
            <a:off x="3211438" y="779757"/>
            <a:ext cx="8207521" cy="43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Exemple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résultat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avec le </a:t>
            </a:r>
            <a:r>
              <a:rPr lang="en-US" sz="320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modèle</a:t>
            </a:r>
            <a:r>
              <a:rPr lang="en-US" sz="32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T5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53331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37770" y="538044"/>
            <a:ext cx="9202817" cy="597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Défis Techniques Rencontrés &amp; Solutions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08" y="1506498"/>
            <a:ext cx="478274" cy="4782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9608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Choix du Modèle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9608" y="2637592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Passage de BART à T5 pour optimiser la compatibilité CPU sans sacrifier la pertinence.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739" y="1506498"/>
            <a:ext cx="478274" cy="47827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34739" y="2223849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Jeux de Données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7434739" y="2637592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Sélection d'un corpus propre et léger, évitant les surcharges inutiles.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8" y="3728085"/>
            <a:ext cx="478274" cy="47827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9608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Calcul des Scores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669608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Limitations à des résumés courts avec l'utilisation du cache pour la performance.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739" y="3728085"/>
            <a:ext cx="478274" cy="47827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34739" y="4445437"/>
            <a:ext cx="239160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Installation Locale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7434739" y="4859179"/>
            <a:ext cx="6526054" cy="61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Résolution des conflits de versions Python, Torch et NumPy pour un environnement stable.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608" y="5949672"/>
            <a:ext cx="478274" cy="47827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9608" y="6667024"/>
            <a:ext cx="272307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Environnement Hybride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669608" y="7080766"/>
            <a:ext cx="6526054" cy="306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Streamlit configuré pour utiliser un environnement cohérent et isolé.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34739" y="5949672"/>
            <a:ext cx="478274" cy="47827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34739" y="6667024"/>
            <a:ext cx="2555558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Optimisation du Cache</a:t>
            </a:r>
            <a:endParaRPr lang="en-US" sz="1850" dirty="0"/>
          </a:p>
        </p:txBody>
      </p:sp>
      <p:sp>
        <p:nvSpPr>
          <p:cNvPr id="20" name="Text 12"/>
          <p:cNvSpPr/>
          <p:nvPr/>
        </p:nvSpPr>
        <p:spPr>
          <a:xfrm>
            <a:off x="7434739" y="7080766"/>
            <a:ext cx="6526054" cy="627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Utilisation de </a:t>
            </a:r>
            <a:r>
              <a:rPr lang="en-US" sz="1500" dirty="0">
                <a:solidFill>
                  <a:srgbClr val="15213F"/>
                </a:solidFill>
                <a:highlight>
                  <a:srgbClr val="EEEFF1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@st.cache_resource</a:t>
            </a:r>
            <a:r>
              <a:rPr lang="en-US" sz="15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les modèles, améliorant l'ergonomie et la vitesse.</a:t>
            </a:r>
            <a:endParaRPr lang="en-US" sz="15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AE54B9-F888-0813-6E70-49B8DC896CA8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3180" y="492204"/>
            <a:ext cx="3493406" cy="665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Conclusion</a:t>
            </a:r>
            <a:endParaRPr lang="en-US" sz="4150" dirty="0"/>
          </a:p>
        </p:txBody>
      </p:sp>
      <p:sp>
        <p:nvSpPr>
          <p:cNvPr id="3" name="Text 1"/>
          <p:cNvSpPr/>
          <p:nvPr/>
        </p:nvSpPr>
        <p:spPr>
          <a:xfrm>
            <a:off x="1195840" y="2386702"/>
            <a:ext cx="5634680" cy="378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Merci </a:t>
            </a:r>
            <a:r>
              <a:rPr lang="fr-FR" sz="3600" dirty="0"/>
              <a:t>🙂</a:t>
            </a: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endParaRPr lang="en-US" sz="3350" dirty="0">
              <a:solidFill>
                <a:srgbClr val="3257B8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l">
              <a:lnSpc>
                <a:spcPts val="4150"/>
              </a:lnSpc>
              <a:buNone/>
            </a:pPr>
            <a:r>
              <a:rPr lang="en-US" sz="33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Avez-vous</a:t>
            </a:r>
            <a:r>
              <a:rPr lang="en-US" sz="33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des questions ? </a:t>
            </a: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261" y="1808917"/>
            <a:ext cx="4944785" cy="494478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C408A90-C455-207F-7F62-F87A40ABEA91}"/>
              </a:ext>
            </a:extLst>
          </p:cNvPr>
          <p:cNvSpPr/>
          <p:nvPr/>
        </p:nvSpPr>
        <p:spPr>
          <a:xfrm>
            <a:off x="12844608" y="7735330"/>
            <a:ext cx="1785792" cy="4882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2369</TotalTime>
  <Words>623</Words>
  <Application>Microsoft Macintosh PowerPoint</Application>
  <PresentationFormat>Personnalisé</PresentationFormat>
  <Paragraphs>100</Paragraphs>
  <Slides>11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Roboto Slab</vt:lpstr>
      <vt:lpstr>Roboto</vt:lpstr>
      <vt:lpstr>Arial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ghizlane lasri</cp:lastModifiedBy>
  <cp:revision>10</cp:revision>
  <dcterms:created xsi:type="dcterms:W3CDTF">2025-07-29T10:34:31Z</dcterms:created>
  <dcterms:modified xsi:type="dcterms:W3CDTF">2025-08-04T15:00:30Z</dcterms:modified>
</cp:coreProperties>
</file>